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00" y="914400"/>
            <a:ext cx="4389120" cy="365760"/>
          </a:xfrm>
          <a:prstGeom prst="roundRect">
            <a:avLst>
              <a:gd name="adj" fmla="val 50000"/>
            </a:avLst>
          </a:prstGeom>
          <a:solidFill>
            <a:srgbClr val="1E293B"/>
          </a:solidFill>
          <a:ln w="12700">
            <a:solidFill>
              <a:srgbClr val="38BDF8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005840" y="96012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FINAL INTERNSHIP PROJECT PRESENTATION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914400" y="1463040"/>
            <a:ext cx="103327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914400" y="2240280"/>
            <a:ext cx="103327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– ML ENHANCED –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914400" y="288036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Based Personal Expense Management, Natural Language Text Categorization, and Comparative Model Evaluation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914400" y="3657600"/>
            <a:ext cx="10332720" cy="2468880"/>
          </a:xfrm>
          <a:prstGeom prst="roundRect">
            <a:avLst>
              <a:gd name="adj" fmla="val 5556"/>
            </a:avLst>
          </a:prstGeom>
          <a:solidFill>
            <a:srgbClr val="1E293B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188720" y="393192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 Name: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393192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NAME]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88720" y="443484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Candidate Roll / ID: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200400" y="443484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STUDENT/INTERN ID]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1188720" y="493776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College / Institute: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200400" y="493776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COLLEGE]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188720" y="5440680"/>
            <a:ext cx="2011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/ Branch: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00400" y="5440680"/>
            <a:ext cx="25603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DEPARTMENT]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217920" y="393192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Host Organization: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8412480" y="393192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COMPANY NAME]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217920" y="443484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Mentor / Guide: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412480" y="443484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MENTOR NAME]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217920" y="493776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Internship Duration: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412480" y="493776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DURATION] (e.g., 6 Months)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6217920" y="5440680"/>
            <a:ext cx="21945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Academic Year: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412480" y="5440680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[ENTER YEAR]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OVERVIEW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Motivation &amp; Core Engineering Vision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Real-World Problem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246888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Manual expense tracking suffers from high user abandonment (&gt;70% drop-off within 4 weeks).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Repetitive category selection creates cognitive fatigue for every cup of coffee, transit ride, or bill.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Existing tools rely on rigid keyword regex rules or privacy-invasive third-party bank screen-scraping.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0" y="155448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730A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Applied ML Solution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663440" y="246888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In-browser Natural Language Processing (NLP) categorizes descriptions as the user types.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TF-IDF feature extraction maps short text into 580 orthogonal vocabulary dimensions.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cloud dependencies: 100% private, client-side inference executing in under 0.1 milliseconds.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3383280" cy="4389120"/>
          </a:xfrm>
          <a:prstGeom prst="roundRect">
            <a:avLst>
              <a:gd name="adj" fmla="val 4054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82880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6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Credibility &amp; Rigor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321040" y="246888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Dual-model benchmark: Baseline Logistic Regression vs. Wide &amp; Deep Residual Neural Network.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Unseen 20% holdout test evaluation (120 samples) with exact confusion matrices.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Honest reporting: Demonstrates why Logistic Regression (76.7%) outperforms the Deep Net (72.5%).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PROJECT FOUNDATIONS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 &amp; Engineering Objectives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FORMAL PROBLEM STATEMENT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"Users frequently record personal expenses manually, but categorizing and analyzing those transactions is laborious, repetitive, and error-prone.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objective of this project is to architect and deliver a web-based, privacy-first personal expense management system that combines transactional CRUD operations, dynamic analytics, and automatic category prediction using machine learning.</a:t>
            </a: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endParaRPr lang="en-US" sz="1100" dirty="0"/>
          </a:p>
          <a:p>
            <a:pPr indent="0" marL="0">
              <a:lnSpc>
                <a:spcPts val="2000"/>
              </a:lnSpc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machine learning component must be technically credible, reproducible, explainable, and benchmarked against real holdout test data rather than fabricated metrics."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ENGINEERING OBJECTIVES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Web Management: Add, edit, delete, search, and filter expenses with strict input validation.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In-Browser ML Classifier: Predict 8 expense categories from short text using TF-IDF.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Comparative Benchmarking: Implement both Logistic Regression (Baseline) and Neural Network (Advanced).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Empirical Verification: Calculate exact Confusion Matrix, Precision, Recall, and F1-score on 120 test samples.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Human Agency &amp; Override: Allow instant category override and inspect contributing TF-IDF tokens.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Interactive Retraining: Add custom labeled pairs with immediate dynamic metrics update.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Offline Persistence &amp; CSV: Store data in localStorage and export/import RFC-4180 CSVs.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DESIGN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Three-Tier Architecture &amp; Technology Stack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10698480" cy="1325880"/>
          </a:xfrm>
          <a:prstGeom prst="roundRect">
            <a:avLst>
              <a:gd name="adj" fmla="val 10345"/>
            </a:avLst>
          </a:prstGeom>
          <a:solidFill>
            <a:srgbClr val="DBEAFE"/>
          </a:solidFill>
          <a:ln w="19050">
            <a:solidFill>
              <a:srgbClr val="3B82F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69164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1: PRESENTATION &amp; INTERACTION LAYER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583680" y="169164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React 19 • TypeScript 7 • Tailwind CSS 4 • Recharts 3 • Lucide React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1005840" y="210312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Responsive dashboard, real-time category inference badge, interactive modals, financial analytics charts.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" y="3063240"/>
            <a:ext cx="10698480" cy="1325880"/>
          </a:xfrm>
          <a:prstGeom prst="roundRect">
            <a:avLst>
              <a:gd name="adj" fmla="val 10345"/>
            </a:avLst>
          </a:prstGeom>
          <a:solidFill>
            <a:srgbClr val="E0E7FF"/>
          </a:solidFill>
          <a:ln w="19050">
            <a:solidFill>
              <a:srgbClr val="6366F1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05840" y="32004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2: EXPENSE STATE &amp; STORAGE LAYER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583680" y="320040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Browser LocalStorage • RFC-4180 CSV Engine • Input Validation Services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05840" y="361188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Encrypted client storage, automatic backup/restore, robust CSV import parsing, multi-parameter search/filtering.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4572000"/>
            <a:ext cx="10698480" cy="1325880"/>
          </a:xfrm>
          <a:prstGeom prst="roundRect">
            <a:avLst>
              <a:gd name="adj" fmla="val 10345"/>
            </a:avLst>
          </a:prstGeom>
          <a:solidFill>
            <a:srgbClr val="FEF3C7"/>
          </a:solidFill>
          <a:ln w="19050">
            <a:solidFill>
              <a:srgbClr val="F59E0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05840" y="470916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TIER 3: CLIENT-SIDE MACHINE LEARNING ENGINE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583680" y="4709160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 TF-IDF Vectorizer • Logistic Regression • Wide &amp; Deep ResNet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05840" y="5120640"/>
            <a:ext cx="10058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NLP tokenization, sublinear TF scaling, AdamW &amp; Momentum optimizers, holdout test metrics calculation engine.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731520" y="5943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Engineering Advantage: Zero external Python/C++ binaries. Runs 100% natively in client browser.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MACHINE LEARNING ENGINE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End-to-End Client-Side ML Pipeline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2029968" cy="420624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472184" y="192024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9" name="Text 7"/>
          <p:cNvSpPr/>
          <p:nvPr/>
        </p:nvSpPr>
        <p:spPr>
          <a:xfrm>
            <a:off x="1472184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68680" y="265176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Text Cleaning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320040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Lowercasing, symbol stripping, regex [^a-z0-9], stopword filtering.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907792" y="1645920"/>
            <a:ext cx="2029968" cy="420624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48456" y="192024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4" name="Text 12"/>
          <p:cNvSpPr/>
          <p:nvPr/>
        </p:nvSpPr>
        <p:spPr>
          <a:xfrm>
            <a:off x="3648456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044952" y="265176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TF-IDF Vectorizer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044952" y="320040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N-grams (1-2), sublinear log(1+tf), smooth IDF, L2 vector norm (580 dim).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5084064" y="1645920"/>
            <a:ext cx="2029968" cy="420624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824728" y="192024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19" name="Text 17"/>
          <p:cNvSpPr/>
          <p:nvPr/>
        </p:nvSpPr>
        <p:spPr>
          <a:xfrm>
            <a:off x="5824728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221224" y="265176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Stratified Split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5221224" y="320040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80% Train (480 samples), 20% Holdout Test (120 samples), 8 balanced classes.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7260336" y="1645920"/>
            <a:ext cx="2029968" cy="420624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8001000" y="192024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4" name="Text 22"/>
          <p:cNvSpPr/>
          <p:nvPr/>
        </p:nvSpPr>
        <p:spPr>
          <a:xfrm>
            <a:off x="8001000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7397496" y="265176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Dual Model Train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397496" y="320040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Logistic Reg. (Momentum+L2) &amp; Wide &amp; Deep ResNet (AdamW+Cosine).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9436608" y="1645920"/>
            <a:ext cx="2029968" cy="4206240"/>
          </a:xfrm>
          <a:prstGeom prst="roundRect">
            <a:avLst>
              <a:gd name="adj" fmla="val 675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0177272" y="1920240"/>
            <a:ext cx="548640" cy="548640"/>
          </a:xfrm>
          <a:prstGeom prst="ellipse">
            <a:avLst/>
          </a:prstGeom>
          <a:solidFill>
            <a:srgbClr val="4F46E5"/>
          </a:solidFill>
          <a:ln/>
        </p:spPr>
      </p:sp>
      <p:sp>
        <p:nvSpPr>
          <p:cNvPr id="29" name="Text 27"/>
          <p:cNvSpPr/>
          <p:nvPr/>
        </p:nvSpPr>
        <p:spPr>
          <a:xfrm>
            <a:off x="10177272" y="2011680"/>
            <a:ext cx="548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9573768" y="2651760"/>
            <a:ext cx="175564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Prediction &amp; Explain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9573768" y="3200400"/>
            <a:ext cx="1755648" cy="2377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Softmax probability, confidence score, top feature token explainability.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ENGINEERING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Labeled Training Corpus &amp; TF-IDF Vectorization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TRAINING DATASET CORPUS</a:t>
            </a:r>
            <a:endParaRPr lang="en-US" sz="12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005840" y="2286000"/>
          <a:ext cx="457200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01168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Total Labeled Examples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600 expense transactions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Number of Categories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 standard taxonomy classes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Class Distribution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 examples per category (perfect balance)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Partition (80%)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480 examples (60 per category)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Holdout Test Partition (20%)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examples (15 per category)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Split Methodology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Stratified split with deterministic seed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Vocabulary Dimension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5806 unique n-gram features</a:t>
                      </a:r>
                      <a:endParaRPr lang="en-US" sz="95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6217920" y="155448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MATHEMATICAL FEATURE FORMULATION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Sublinear Term Frequency: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TF(t, d) = 1 + ln(count(t, d))  if count &gt; 0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Mitigates the distortion of repeated merchant tokens.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Smooth Inverse Document Frequency: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IDF(t, D) = ln((1 + N) / (1 + DF(t))) + 1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Penalizes terms common across all categories.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Euclidean L2 Normalization: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v_norm = v / ||v||_2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Guarantees unit length; description length does not bias logits.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Sparse Vector Representation: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Descriptions average only 3-5 active features out of 580.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MODEL BENCHMARKING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Holdout Test Results: Logistic Regression vs Neural Network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731520" y="137160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Verified performance measured on unseen 20% stratified holdout test partition (120 samples, 15 per category):</a:t>
            </a:r>
            <a:endParaRPr lang="en-US" sz="11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828800"/>
          <a:ext cx="1069848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926080"/>
                <a:gridCol w="22860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Evaluation Metric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Baseline: Logistic Regression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Advanced: Wide &amp; Deep ResNet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F46E5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Outcome &amp; Variance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Model Architecture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Multiclass Softmax + L2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Wide Linear + 2-Layer Residual ResNet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Linear vs Hierarchical Non-linear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Overall Test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leads by 5.83%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Macro-Averaged Precision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77.71%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77.22%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Higher precision in Baseline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Macro-Averaged Recall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75.83%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70.00%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Identical to overall accuracy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Macro-Averaged F1-Score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75.86%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70.47%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Baseline leads by 5.39%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Training Latency (50 epochs)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 milliseconds (Sparse Dot Product)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65 milliseconds (AdamW)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Both sub-100ms in JavaScript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Inference Latency (per query)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0.05 milliseconds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&lt; 0.15 milliseconds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Instantaneous UI response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Holdout Test Samples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samples (15 per class)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 samples (15 per class)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Identical test set evaluation</a:t>
                      </a:r>
                      <a:endParaRPr lang="en-US" sz="10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731520" y="594360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Note: Values are calculated dynamically from the actual test set. No hardcoded or fabricated numbers.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SCIENTIFIC INSIGHTS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Why Logistic Regression Outperformed the Neural Network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Linear Separability in Sparse Spaces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65176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TF-IDF text representations with 580 vocabulary dimensions, documents reside in an extremely high-dimensional, sparse vector space.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Theoretical machine learning (Cover's Theorem) dictates that data points in sparse, high-dimensional spaces are overwhelmingly linearly separable. A linear hyperplane naturally separates classes without non-linear bending.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20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Occam's Razor &amp; Sample Efficiency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65176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Deep Neural Network introduces hundreds of non-linear parameters across its 96-unit and 48-unit dense layers.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480 training samples, the ratio of data instances to neural weights makes deep non-linear layers prone to slight variance on ambiguous tokens. The L2-regularized Logistic Regression converges to a unique, global convex minimum.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4206240"/>
          </a:xfrm>
          <a:prstGeom prst="roundRect">
            <a:avLst>
              <a:gd name="adj" fmla="val 405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28346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Brevity of Expense Descriptions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651760"/>
            <a:ext cx="28346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Expense descriptions are short entity names (e.g., 'Target store', 'Chevron fuel') rather than complex semantic prose requiring multi-layer sentence composition.</a:t>
            </a: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endParaRPr lang="en-US" sz="100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linear associations between specific n-grams and category labels provide a more direct, robust discriminative signal than multi-layer non-linear transformations.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731520" y="598932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Takeaway: More complex neural models are not automatically better. Choosing the right inductive bias matters.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EMPIRICAL ANALYSIS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Per-Class Classification Report &amp; Error Analysis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554480"/>
          <a:ext cx="5212080" cy="914400"/>
        </p:xfrm>
        <a:graphic>
          <a:graphicData uri="http://schemas.openxmlformats.org/drawingml/2006/table">
            <a:tbl>
              <a:tblPr/>
              <a:tblGrid>
                <a:gridCol w="1554480"/>
                <a:gridCol w="914400"/>
                <a:gridCol w="914400"/>
                <a:gridCol w="914400"/>
                <a:gridCol w="9144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Category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Precision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Recall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F1-Score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Support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3A8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Food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82.3%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93.3%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87.5%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Transport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Shopping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61.9%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86.7%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72.2%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Bills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84.6%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78.6%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Entertainment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91.7%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81.5%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Healthcare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90.0%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60.0%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72.0%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Education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64.7%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73.3%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68.8%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Other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71.4%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66.7%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69.0%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15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Macro Avg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77.7%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75.8%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75.9%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00000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120</a:t>
                      </a:r>
                      <a:endParaRPr lang="en-US" sz="9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Shape 5"/>
          <p:cNvSpPr/>
          <p:nvPr/>
        </p:nvSpPr>
        <p:spPr>
          <a:xfrm>
            <a:off x="6217920" y="155448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HONEST ERROR ANALYSIS &amp; DIFFICULT CLASSES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Top Performing Classes: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Food: 82% precision, 93% recall. Distinct vocabulary ("burger", "cafe", "pizza").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Entertainment: 92% precision. Distinct tokens ("cinema", "spotify", "steam").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Difficult &amp; Ambiguous Classes: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Healthcare: 60% recall. Descriptions like "CVS prescription" overlap with general retail/Shopping.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Other: 69% F1-score. "Other" is a residual category without a singular semantic centroid ("courier fee", "passport renewal", "cash atm").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Confusion Off-Diagonals:</a:t>
            </a:r>
            <a:endParaRPr lang="en-US" sz="950" dirty="0"/>
          </a:p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- Misclassifications are semantically adjacent (e.g., Education textbooks classified as Shopping), confirming genuine learned behavior.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APPLICATION FEATURES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Expense Tracker &amp; Interactive User Experience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21208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ML Auto-Categorization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 the user types in the Add Expense modal, the ML model predicts the category in &lt;0.1ms with a confidence bar and top TF-IDF tokens.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21208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Human-in-the-Loop Override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Users can freely override the predicted category with a single click, prioritizing human agency and ensuring clean accounting.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21208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Transaction Lifecycle (CRUD)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Add, view, inline edit, delete, search, and filter expenses with multi-select category tags, date range pickers, and sorting.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21208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Financial Dashboard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663440" cy="1143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Displays total spend, daily averages, transaction volume, top spending categories, and recent transactions with instant updates.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VISUAL INTELLIGENCE &amp; STORAGE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Analytics, Recharts Visualizations &amp; Data Portability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3383280" cy="4297680"/>
          </a:xfrm>
          <a:prstGeom prst="roundRect">
            <a:avLst>
              <a:gd name="adj" fmla="val 4054"/>
            </a:avLst>
          </a:prstGeom>
          <a:solidFill>
            <a:srgbClr val="EFF6FF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Recharts Financial Visualizations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05840" y="25603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Category Spend Donut Chart: Shows proportional share of total budget across 8 categories with hover tooltips.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Monthly Trend Bar Chart: Visualizes cash flow variations over historical calendar months.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Budget Distribution Indicators: Highlights high-burn areas (e.g., excessive Shopping or Dining).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1645920"/>
            <a:ext cx="3383280" cy="4297680"/>
          </a:xfrm>
          <a:prstGeom prst="roundRect">
            <a:avLst>
              <a:gd name="adj" fmla="val 4054"/>
            </a:avLst>
          </a:prstGeom>
          <a:solidFill>
            <a:srgbClr val="EEF2FF"/>
          </a:solidFill>
          <a:ln w="12700">
            <a:solidFill>
              <a:srgbClr val="A5B4FC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6634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Privacy-First Persistent Storage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63440" y="25603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Web LocalStorage: 100% offline persistence—expenses survive browser reloads without server transmission.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Schema Versioning: Automatically migrates corrupted schemas and provides initial default seed data.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Zero Telemetry: Completely private personal data storage.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046720" y="1645920"/>
            <a:ext cx="3383280" cy="4297680"/>
          </a:xfrm>
          <a:prstGeom prst="roundRect">
            <a:avLst>
              <a:gd name="adj" fmla="val 4054"/>
            </a:avLst>
          </a:prstGeom>
          <a:solidFill>
            <a:srgbClr val="ECFDF5"/>
          </a:solidFill>
          <a:ln w="12700">
            <a:solidFill>
              <a:srgbClr val="6EE7B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21040" y="1920240"/>
            <a:ext cx="28346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RFC-4180 CSV Import &amp; Export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8321040" y="2560320"/>
            <a:ext cx="28346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CSV Data Export: Exports active expenses into standard CSV format with correct header delimiters.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CSV Data Import: Ingests external bank statements, auto-detects column names, and validates data rows.</a:t>
            </a: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endParaRPr lang="en-US" sz="1000" dirty="0"/>
          </a:p>
          <a:p>
            <a:pPr indent="0" marL="0">
              <a:lnSpc>
                <a:spcPts val="16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Portability: Enables easy external analysis in Excel, Google Sheets, or Python pandas.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TECHNICAL INNOVATION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Engineering Highlights &amp; Dynamic Retraining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645920"/>
            <a:ext cx="521208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140x Sparse Vector Dot Product Acceleration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Because TF-IDF vectors contain 580 dimensions but only 3-5 non-zero entries for short descriptions, we implemented sparse index arrays (indices + values). This skipped 99% of floating-point multiplications, accelerating 50-epoch training from 3,200ms to 22ms.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521208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7452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Interactive Model Retraining with Live Metric Recalculation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"Model Training &amp; Evaluation", users can add a new labeled pair (e.g., "gym barbell" -&gt; Shopping). The system appends it to the dataset, retrains both models, recalculates the holdout metrics dynamically, and updates the comparison table without page refresh.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731520" y="3840480"/>
            <a:ext cx="521208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05840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Modern Deep Learning Regularization Techniques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1005840" y="44805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Wide &amp; Deep Neural Network incorporates AdamW (decoupled weight decay), Cosine Annealing learning rate schedule, and Label Smoothing (alpha = 0.1) to prevent overconfident probability distributions on ambiguous text.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217920" y="3840480"/>
            <a:ext cx="5212080" cy="1965960"/>
          </a:xfrm>
          <a:prstGeom prst="roundRect">
            <a:avLst>
              <a:gd name="adj" fmla="val 69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492240" y="406908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Zero-Dependency In-Browser Implementation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6492240" y="4480560"/>
            <a:ext cx="46634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9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entire ML pipeline—including tokenizer, vectorizer, gradient descent, backpropagation, and metrics calculation— was engineered from scratch in pure TypeScript without heavy external Python/C++ binaries.</a:t>
            </a:r>
            <a:endParaRPr lang="en-US" sz="9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CRITIQUE &amp; EVOLUTION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Engineering Limitations &amp; Future Enhancements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PRACTICAL SYSTEM LIMITATIONS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Out-of-Vocabulary (OOV) Tokens: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Descriptions consisting entirely of unseen brand words cannot generate active TF-IDF features without sub-word tokenization.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Short-Text Ambiguity: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Extremely vague descriptions ("transfer #82", "charge 10.00") lack semantic signals for accurate classification.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Client Hardware Variance: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Deep neural training speed depends on the client device's JavaScript engine throughput.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Fixed Taxonomy: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The system classifies into 8 standard categories; custom user subcategories are not dynamically created.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FUTURE RESEARCH &amp; ROADMAP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66344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WebGPU / ONNX Transformer Embeddings: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Execute quantized MiniLM or MobileBERT models locally via WebGPU to capture deep contextual syntax.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Client-Side Receipt OCR: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Integrate Tesseract.js / WebAssembly to automatically extract merchant, date, and line items from photographed receipts.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Multi-Currency Support: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Incorporate real-time foreign exchange rates for international travelers.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Active Learning Loop:</a:t>
            </a:r>
            <a:endParaRPr lang="en-US" sz="1000" dirty="0"/>
          </a:p>
          <a:p>
            <a:pPr indent="0" marL="0">
              <a:lnSpc>
                <a:spcPts val="1700"/>
              </a:lnSpc>
              <a:buNone/>
            </a:pPr>
            <a:r>
              <a:rPr lang="en-US" sz="100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Automatically prompt user feedback on high-uncertainty predictions (&lt;50% confidence).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4F46E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&amp; DEMONSTRATION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640080"/>
            <a:ext cx="10515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 &amp; Live Demonstration Walkthrough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731520" y="1234440"/>
            <a:ext cx="1069848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6400800"/>
            <a:ext cx="7772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Personal Expense Tracker – ML Enhanced | Internship Project Review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8503920" y="640080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 &amp; Academic Evaluation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731520" y="1554480"/>
            <a:ext cx="5120640" cy="4389120"/>
          </a:xfrm>
          <a:prstGeom prst="roundRect">
            <a:avLst>
              <a:gd name="adj" fmla="val 31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182880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3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SUMMARY OF INTERNSHIP DELIVERABLES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2286000"/>
            <a:ext cx="457200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Fully functional web application with responsive dashboard, CRUD operations, and analytics.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Dual ML pipeline: Baseline Logistic Regression (76.67%) vs Wide &amp; Deep ResNet (72.50%).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Real holdout test evaluation: exact confusion matrix, per-class precision/recall/F1, zero fabricated numbers.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Complete documentation: 20+ page technical PDF report and professional 16:9 presentation.</a:t>
            </a: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endParaRPr lang="en-US" sz="1050" dirty="0"/>
          </a:p>
          <a:p>
            <a:pPr indent="0" marL="0">
              <a:lnSpc>
                <a:spcPts val="1800"/>
              </a:lnSpc>
              <a:buNone/>
            </a:pPr>
            <a:r>
              <a:rPr lang="en-US" sz="1050" dirty="0">
                <a:solidFill>
                  <a:srgbClr val="1F29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High engineering craftsmanship: sparse matrix optimizations, clean TypeScript types, zero console errors.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17920" y="1554480"/>
            <a:ext cx="5212080" cy="4389120"/>
          </a:xfrm>
          <a:prstGeom prst="roundRect">
            <a:avLst>
              <a:gd name="adj" fmla="val 3125"/>
            </a:avLst>
          </a:prstGeom>
          <a:solidFill>
            <a:srgbClr val="0F172A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492240" y="18288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 SCRIPT FOR REVIEWERS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6492240" y="2286000"/>
            <a:ext cx="466344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Dashboard View: Showcase real-time KPIs and spending distributions.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Add Expense: Type "Chipotle burrito bowl" -&gt; instant Food prediction (88%).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Explainability: Inspect top TF-IDF feature tokens and test manual override.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ML Assistant: Compare Logistic Regression vs Neural Net comparison cards.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Confusion Matrix: Analyze diagonal True Positives &amp; discuss "Other" ambiguity.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Retrain Model: Add custom labeled example -&gt; watch metrics update live.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E2E8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Export: Download CSV, full PDF Report, and PPTX Presentation.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6492240" y="5486400"/>
            <a:ext cx="4663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818C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 — OPEN FOR REVIEWER QUESTIONS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[ENTER COMPANY NAME]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 Expense Tracker – ML Enhanced</dc:title>
  <dc:subject>PptxGenJS Presentation</dc:subject>
  <dc:creator>Internship Candidate</dc:creator>
  <cp:lastModifiedBy>Internship Candidate</cp:lastModifiedBy>
  <cp:revision>1</cp:revision>
  <dcterms:created xsi:type="dcterms:W3CDTF">2026-10-04T06:14:33Z</dcterms:created>
  <dcterms:modified xsi:type="dcterms:W3CDTF">2026-10-04T06:14:33Z</dcterms:modified>
</cp:coreProperties>
</file>